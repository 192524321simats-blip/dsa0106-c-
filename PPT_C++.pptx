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59" r:id="rId4"/>
    <p:sldId id="265" r:id="rId5"/>
    <p:sldId id="266" r:id="rId6"/>
    <p:sldId id="284" r:id="rId7"/>
    <p:sldId id="269" r:id="rId8"/>
    <p:sldId id="276" r:id="rId9"/>
    <p:sldId id="271" r:id="rId10"/>
    <p:sldId id="278" r:id="rId11"/>
    <p:sldId id="270" r:id="rId12"/>
    <p:sldId id="279" r:id="rId13"/>
    <p:sldId id="272" r:id="rId14"/>
    <p:sldId id="277" r:id="rId15"/>
    <p:sldId id="280" r:id="rId16"/>
    <p:sldId id="283" r:id="rId17"/>
    <p:sldId id="282" r:id="rId18"/>
    <p:sldId id="281" r:id="rId19"/>
    <p:sldId id="268" r:id="rId20"/>
    <p:sldId id="273"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BC3763-58A8-4B04-AE4B-2CDED8290D10}" v="22" dt="2026-10-19T03:28:54.6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94660"/>
  </p:normalViewPr>
  <p:slideViewPr>
    <p:cSldViewPr snapToGrid="0">
      <p:cViewPr varScale="1">
        <p:scale>
          <a:sx n="91" d="100"/>
          <a:sy n="91" d="100"/>
        </p:scale>
        <p:origin x="31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26B92C-D14D-41BE-8D4A-E1806DB976A6}" type="datetimeFigureOut">
              <a:rPr lang="en-IN" smtClean="0"/>
              <a:t>26-10-2026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6387C1-F898-4941-96C1-FE4434DFF0F6}" type="slidenum">
              <a:rPr lang="en-IN" smtClean="0"/>
              <a:t>‹#›</a:t>
            </a:fld>
            <a:endParaRPr lang="en-IN"/>
          </a:p>
        </p:txBody>
      </p:sp>
    </p:spTree>
    <p:extLst>
      <p:ext uri="{BB962C8B-B14F-4D97-AF65-F5344CB8AC3E}">
        <p14:creationId xmlns:p14="http://schemas.microsoft.com/office/powerpoint/2010/main" val="1074180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6387C1-F898-4941-96C1-FE4434DFF0F6}" type="slidenum">
              <a:rPr lang="en-IN" smtClean="0"/>
              <a:t>2</a:t>
            </a:fld>
            <a:endParaRPr lang="en-IN"/>
          </a:p>
        </p:txBody>
      </p:sp>
    </p:spTree>
    <p:extLst>
      <p:ext uri="{BB962C8B-B14F-4D97-AF65-F5344CB8AC3E}">
        <p14:creationId xmlns:p14="http://schemas.microsoft.com/office/powerpoint/2010/main" val="3603918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8B2-04BF-6B91-A64A-1953694B67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5F7E9E-2D0E-D399-7C9C-72831B61BF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37626C-8FD3-92DE-2B01-E8C841734124}"/>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3CD1229D-62CC-F3D4-B78E-CA36C3CDC6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61F8E6-88F2-6B24-12BB-7F42F8D2202F}"/>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4140318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9AA5-16D5-BDCE-8336-923183308A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8D8B69-BBDF-1B37-5BEF-5C341D2504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EAF4E6-0633-02C3-7257-0953F52D7637}"/>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B419AE60-4A6F-4AE6-65DB-E88FE6EF8B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A6BBA9-09C8-DD15-40C7-761BA5CEDD9E}"/>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2747102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03F4C-4CA0-50F9-D412-3FC4612971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DF0E7A-2645-F876-F9D8-B6E91134A3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7655F7-A18C-FF98-14BE-308C8C6E48E3}"/>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D443A8E4-F5D0-D99A-8828-2AA221C97D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99D629-0D07-83CE-C5E0-004AF83C4DC7}"/>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629255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81F59-57D9-52E3-49F2-A25BA6E87F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51E633-8CAD-1349-8CEB-B612843219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332A52-E23E-BA16-FC4D-3EE04E256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96819C-E4A4-FE56-DDB4-A5BB4A52C90C}"/>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6" name="Footer Placeholder 5">
            <a:extLst>
              <a:ext uri="{FF2B5EF4-FFF2-40B4-BE49-F238E27FC236}">
                <a16:creationId xmlns:a16="http://schemas.microsoft.com/office/drawing/2014/main" id="{86A18E1A-FA95-24E7-1353-EA23C69677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DBD92A-2ACC-16A9-4065-0CEB17CBF3C7}"/>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1095433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1FBBE-952A-C7CF-05A1-10F2F7AD155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EEF266-654E-AD2C-4D2F-F61B531113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5373BE-B4D3-2B94-9C23-7F2A5531EF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0CAC60-BC2A-0632-1287-AD7FF29631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C1F22D-37FF-8201-F857-2F5AD49B02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95E62D9-6462-696A-07A4-E6BE9972CFFF}"/>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8" name="Footer Placeholder 7">
            <a:extLst>
              <a:ext uri="{FF2B5EF4-FFF2-40B4-BE49-F238E27FC236}">
                <a16:creationId xmlns:a16="http://schemas.microsoft.com/office/drawing/2014/main" id="{2AB7ABD2-2D95-4B56-42EB-86B3F61299A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83E695-C581-8CD2-31A8-A93667498A96}"/>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479213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9BE05-7FE2-0AC4-C096-D35F2AFA74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DDE994-42D2-CE64-3BC3-DF7EC1F28D4D}"/>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4" name="Footer Placeholder 3">
            <a:extLst>
              <a:ext uri="{FF2B5EF4-FFF2-40B4-BE49-F238E27FC236}">
                <a16:creationId xmlns:a16="http://schemas.microsoft.com/office/drawing/2014/main" id="{D02C47A3-E266-500E-10F8-7522EF9ACB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CE9B6D-6B34-018D-7419-77F990238765}"/>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3579036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109883-3E58-EDAC-61D3-DE4D97FC66EF}"/>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3" name="Footer Placeholder 2">
            <a:extLst>
              <a:ext uri="{FF2B5EF4-FFF2-40B4-BE49-F238E27FC236}">
                <a16:creationId xmlns:a16="http://schemas.microsoft.com/office/drawing/2014/main" id="{68682B51-1A6A-A472-4F6D-5D0B76EA334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50EC7D4-3EBF-F0A5-1BDA-EA90E3116776}"/>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113048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3125-552D-EF29-D70E-23288133FC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9F662D-1F36-B07F-C161-631759800B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768A2E-3105-EE45-2C06-9908B8F579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9A2DDB-7826-7D3F-48D4-5D76E91A5812}"/>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6" name="Footer Placeholder 5">
            <a:extLst>
              <a:ext uri="{FF2B5EF4-FFF2-40B4-BE49-F238E27FC236}">
                <a16:creationId xmlns:a16="http://schemas.microsoft.com/office/drawing/2014/main" id="{786F9632-3ABF-825A-A1D2-8FA7B4E316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055DDD-B6FD-9BE8-ECEF-4647FF304BD1}"/>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3100555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DE001-E6A8-420A-556B-F97B33947D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8FD3DF-0303-E791-D7A3-E95D103DB7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F2D4AA-DBF8-A038-C614-C30EDFF85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8F1CBA-7E4E-DF95-D62B-49ED5AC37C62}"/>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6" name="Footer Placeholder 5">
            <a:extLst>
              <a:ext uri="{FF2B5EF4-FFF2-40B4-BE49-F238E27FC236}">
                <a16:creationId xmlns:a16="http://schemas.microsoft.com/office/drawing/2014/main" id="{EEF3B78B-E4F0-FD3E-08AF-6E2EAAB2D4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5DE7AC-E7F4-C736-3BB0-6E62F9ED8404}"/>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2124104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A5FBD-03A5-C4B4-6439-4AE701D9CD7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EF03AF-0CC4-3E00-D52C-94383FD4B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293562-5D5E-DC9C-66E7-84040FA5D512}"/>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185E1A21-CA78-9F60-BB9E-EA38AE7DDD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B43D96-60E6-9C90-59A3-883554C8DFA8}"/>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206716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BF048B-79AC-5E1B-1B78-425BC9FCC6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22FC52-390F-57F3-2127-C53D8D2242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410636-D4F8-C584-4213-2A0694DA01D8}"/>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8D8C8171-4FF3-7D3E-91F1-412E7A3735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F31CB9-8E4B-389C-0E86-756051D1CD77}"/>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157323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B9283C-5892-1B65-E3DD-B9212A1520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141BE4-E3BE-AAF2-4CE0-B940C96B1F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EC251E-B02B-6617-F90C-5C9DD29CB4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802F9804-6850-6D89-94F7-7FD87B621E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C4AF0AB-994B-A243-3D3C-CC6A2605AE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69D144-F5D9-4F04-80D7-C9542DC11562}" type="slidenum">
              <a:rPr lang="en-IN" smtClean="0"/>
              <a:t>‹#›</a:t>
            </a:fld>
            <a:endParaRPr lang="en-IN"/>
          </a:p>
        </p:txBody>
      </p:sp>
    </p:spTree>
    <p:extLst>
      <p:ext uri="{BB962C8B-B14F-4D97-AF65-F5344CB8AC3E}">
        <p14:creationId xmlns:p14="http://schemas.microsoft.com/office/powerpoint/2010/main" val="2695512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039A57-2E52-907E-07C5-1C1257497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3" y="0"/>
            <a:ext cx="11208773" cy="1932389"/>
          </a:xfrm>
          <a:prstGeom prst="rect">
            <a:avLst/>
          </a:prstGeom>
        </p:spPr>
      </p:pic>
      <p:sp>
        <p:nvSpPr>
          <p:cNvPr id="6" name="TextBox 5">
            <a:extLst>
              <a:ext uri="{FF2B5EF4-FFF2-40B4-BE49-F238E27FC236}">
                <a16:creationId xmlns:a16="http://schemas.microsoft.com/office/drawing/2014/main" id="{E4989CA5-BB75-3BBD-8B43-86D56E693114}"/>
              </a:ext>
            </a:extLst>
          </p:cNvPr>
          <p:cNvSpPr txBox="1"/>
          <p:nvPr/>
        </p:nvSpPr>
        <p:spPr>
          <a:xfrm>
            <a:off x="859651" y="2245691"/>
            <a:ext cx="10659374" cy="954107"/>
          </a:xfrm>
          <a:prstGeom prst="rect">
            <a:avLst/>
          </a:prstGeom>
          <a:noFill/>
        </p:spPr>
        <p:txBody>
          <a:bodyPr wrap="square">
            <a:spAutoFit/>
          </a:bodyPr>
          <a:lstStyle/>
          <a:p>
            <a:pPr algn="ctr"/>
            <a:r>
              <a:rPr lang="en-US" sz="2800" b="1" dirty="0" err="1">
                <a:latin typeface="Times New Roman" panose="02020603050405020304" pitchFamily="18" charset="0"/>
                <a:cs typeface="Times New Roman" panose="02020603050405020304" pitchFamily="18" charset="0"/>
              </a:rPr>
              <a:t>BudgetBuddy</a:t>
            </a:r>
            <a:r>
              <a:rPr lang="en-US" sz="2800" b="1" dirty="0">
                <a:latin typeface="Times New Roman" panose="02020603050405020304" pitchFamily="18" charset="0"/>
                <a:cs typeface="Times New Roman" panose="02020603050405020304" pitchFamily="18" charset="0"/>
              </a:rPr>
              <a:t> – An Adaptive Student Expense and Savings Optimization System Using Object-Oriented C++</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65E3D77-964E-D844-1ACD-9A6FEE4AA0C8}"/>
              </a:ext>
            </a:extLst>
          </p:cNvPr>
          <p:cNvSpPr txBox="1"/>
          <p:nvPr/>
        </p:nvSpPr>
        <p:spPr>
          <a:xfrm>
            <a:off x="710240" y="4467208"/>
            <a:ext cx="1754038"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Guided by:</a:t>
            </a:r>
          </a:p>
        </p:txBody>
      </p:sp>
      <p:sp>
        <p:nvSpPr>
          <p:cNvPr id="7" name="TextBox 6">
            <a:extLst>
              <a:ext uri="{FF2B5EF4-FFF2-40B4-BE49-F238E27FC236}">
                <a16:creationId xmlns:a16="http://schemas.microsoft.com/office/drawing/2014/main" id="{28C29949-42AF-1259-98B5-5C30A4540098}"/>
              </a:ext>
            </a:extLst>
          </p:cNvPr>
          <p:cNvSpPr txBox="1"/>
          <p:nvPr/>
        </p:nvSpPr>
        <p:spPr>
          <a:xfrm>
            <a:off x="8156435" y="4467208"/>
            <a:ext cx="1909313"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Presented by:</a:t>
            </a:r>
          </a:p>
        </p:txBody>
      </p:sp>
      <p:sp>
        <p:nvSpPr>
          <p:cNvPr id="11" name="TextBox 10">
            <a:extLst>
              <a:ext uri="{FF2B5EF4-FFF2-40B4-BE49-F238E27FC236}">
                <a16:creationId xmlns:a16="http://schemas.microsoft.com/office/drawing/2014/main" id="{0207A937-AC8D-CD6C-EB86-9B88FE10C49B}"/>
              </a:ext>
            </a:extLst>
          </p:cNvPr>
          <p:cNvSpPr txBox="1"/>
          <p:nvPr/>
        </p:nvSpPr>
        <p:spPr>
          <a:xfrm>
            <a:off x="710240" y="5070408"/>
            <a:ext cx="3010458"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Dr. Jegadeesh K </a:t>
            </a:r>
          </a:p>
        </p:txBody>
      </p:sp>
      <p:sp>
        <p:nvSpPr>
          <p:cNvPr id="4" name="TextBox 3">
            <a:extLst>
              <a:ext uri="{FF2B5EF4-FFF2-40B4-BE49-F238E27FC236}">
                <a16:creationId xmlns:a16="http://schemas.microsoft.com/office/drawing/2014/main" id="{9CB5E6EC-DE54-1371-8116-97C56D4AB6CE}"/>
              </a:ext>
            </a:extLst>
          </p:cNvPr>
          <p:cNvSpPr txBox="1"/>
          <p:nvPr/>
        </p:nvSpPr>
        <p:spPr>
          <a:xfrm>
            <a:off x="2587811" y="1749311"/>
            <a:ext cx="7545012"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DSA0106 - OBJECT ORIENTED PROGRAMMING WITH C++</a:t>
            </a:r>
          </a:p>
        </p:txBody>
      </p:sp>
      <p:sp>
        <p:nvSpPr>
          <p:cNvPr id="9" name="TextBox 8">
            <a:extLst>
              <a:ext uri="{FF2B5EF4-FFF2-40B4-BE49-F238E27FC236}">
                <a16:creationId xmlns:a16="http://schemas.microsoft.com/office/drawing/2014/main" id="{3442B025-85FD-7D7F-2D48-ADE52F4B24BC}"/>
              </a:ext>
            </a:extLst>
          </p:cNvPr>
          <p:cNvSpPr txBox="1"/>
          <p:nvPr/>
        </p:nvSpPr>
        <p:spPr>
          <a:xfrm>
            <a:off x="8156435" y="4989123"/>
            <a:ext cx="3010458" cy="369332"/>
          </a:xfrm>
          <a:prstGeom prst="rect">
            <a:avLst/>
          </a:prstGeom>
          <a:noFill/>
        </p:spPr>
        <p:txBody>
          <a:bodyPr wrap="square">
            <a:spAutoFit/>
          </a:bodyPr>
          <a:lstStyle/>
          <a:p>
            <a:r>
              <a:rPr lang="en-IN">
                <a:latin typeface="Times New Roman" panose="02020603050405020304" pitchFamily="18" charset="0"/>
                <a:cs typeface="Times New Roman" panose="02020603050405020304" pitchFamily="18" charset="0"/>
              </a:rPr>
              <a:t>Hemalakshmi H (192571049</a:t>
            </a:r>
            <a:r>
              <a:rPr lang="en-IN"/>
              <a:t>)</a:t>
            </a:r>
            <a:endParaRPr lang="en-IN" dirty="0"/>
          </a:p>
        </p:txBody>
      </p:sp>
      <p:sp>
        <p:nvSpPr>
          <p:cNvPr id="12" name="TextBox 11">
            <a:extLst>
              <a:ext uri="{FF2B5EF4-FFF2-40B4-BE49-F238E27FC236}">
                <a16:creationId xmlns:a16="http://schemas.microsoft.com/office/drawing/2014/main" id="{508DE4C4-BF30-5363-D113-178F44483F6B}"/>
              </a:ext>
            </a:extLst>
          </p:cNvPr>
          <p:cNvSpPr txBox="1"/>
          <p:nvPr/>
        </p:nvSpPr>
        <p:spPr>
          <a:xfrm>
            <a:off x="8156435" y="5358455"/>
            <a:ext cx="2396565" cy="369332"/>
          </a:xfrm>
          <a:prstGeom prst="rect">
            <a:avLst/>
          </a:prstGeom>
          <a:noFill/>
        </p:spPr>
        <p:txBody>
          <a:bodyPr wrap="square">
            <a:spAutoFit/>
          </a:bodyPr>
          <a:lstStyle/>
          <a:p>
            <a:r>
              <a:rPr lang="en-IN" dirty="0" err="1">
                <a:latin typeface="Times New Roman" panose="02020603050405020304" pitchFamily="18" charset="0"/>
                <a:cs typeface="Times New Roman" panose="02020603050405020304" pitchFamily="18" charset="0"/>
              </a:rPr>
              <a:t>Shaffria</a:t>
            </a:r>
            <a:r>
              <a:rPr lang="en-IN" dirty="0">
                <a:latin typeface="Times New Roman" panose="02020603050405020304" pitchFamily="18" charset="0"/>
                <a:cs typeface="Times New Roman" panose="02020603050405020304" pitchFamily="18" charset="0"/>
              </a:rPr>
              <a:t> A (192571047</a:t>
            </a:r>
            <a:r>
              <a:rPr lang="en-IN" dirty="0"/>
              <a:t>)</a:t>
            </a:r>
          </a:p>
        </p:txBody>
      </p:sp>
    </p:spTree>
    <p:extLst>
      <p:ext uri="{BB962C8B-B14F-4D97-AF65-F5344CB8AC3E}">
        <p14:creationId xmlns:p14="http://schemas.microsoft.com/office/powerpoint/2010/main" val="3586366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78AECE-7EF4-96D9-4289-0B0E1066E70B}"/>
              </a:ext>
            </a:extLst>
          </p:cNvPr>
          <p:cNvPicPr>
            <a:picLocks noChangeAspect="1"/>
          </p:cNvPicPr>
          <p:nvPr/>
        </p:nvPicPr>
        <p:blipFill>
          <a:blip r:embed="rId3"/>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4B5F6EB6-743C-B2B6-5C8B-781582587787}"/>
              </a:ext>
            </a:extLst>
          </p:cNvPr>
          <p:cNvPicPr>
            <a:picLocks noChangeAspect="1"/>
          </p:cNvPicPr>
          <p:nvPr/>
        </p:nvPicPr>
        <p:blipFill>
          <a:blip r:embed="rId4"/>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075D6E0C-A4B3-CF9B-0092-9BDB4FCC86A5}"/>
              </a:ext>
            </a:extLst>
          </p:cNvPr>
          <p:cNvSpPr txBox="1"/>
          <p:nvPr/>
        </p:nvSpPr>
        <p:spPr>
          <a:xfrm>
            <a:off x="5105153" y="444386"/>
            <a:ext cx="1766540"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Abstract</a:t>
            </a:r>
          </a:p>
        </p:txBody>
      </p:sp>
      <p:sp>
        <p:nvSpPr>
          <p:cNvPr id="7" name="TextBox 6">
            <a:extLst>
              <a:ext uri="{FF2B5EF4-FFF2-40B4-BE49-F238E27FC236}">
                <a16:creationId xmlns:a16="http://schemas.microsoft.com/office/drawing/2014/main" id="{0FD8A85B-06C4-59D6-0634-1C3D98C23589}"/>
              </a:ext>
            </a:extLst>
          </p:cNvPr>
          <p:cNvSpPr txBox="1"/>
          <p:nvPr/>
        </p:nvSpPr>
        <p:spPr>
          <a:xfrm>
            <a:off x="1153459" y="1428662"/>
            <a:ext cx="9669929"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is an adaptive student expense and savings optimization system developed using Object-Oriented C++.</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students' spending patterns and available allowance to calculate safe-spending limits and support better budgeting decisions.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identifies unnecessary expenses, prioritizes essential needs, and provides insights into potential savings.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simulates financial situations, such as unexpected expenses and planned purchases, to help students make informed spending decisions.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tracks multiple savings goals and helps students optimize contributions while balancing daily expenses.</a:t>
            </a:r>
          </a:p>
          <a:p>
            <a:pPr marL="34290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637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9EC53-2CFF-2991-9794-AD491243856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6784F05-516B-DAFA-4B56-EF33CE42EB55}"/>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B0B52FC4-479C-17E6-736F-6BD21DDD26F9}"/>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0C5B8B6E-B3FA-F5D8-3901-3D00FADA2A9A}"/>
              </a:ext>
            </a:extLst>
          </p:cNvPr>
          <p:cNvSpPr txBox="1"/>
          <p:nvPr/>
        </p:nvSpPr>
        <p:spPr>
          <a:xfrm>
            <a:off x="4306047" y="536289"/>
            <a:ext cx="3579906"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Problem Statement</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8BB95E5-44D6-5628-167E-BC6C1D6667E5}"/>
              </a:ext>
            </a:extLst>
          </p:cNvPr>
          <p:cNvSpPr txBox="1"/>
          <p:nvPr/>
        </p:nvSpPr>
        <p:spPr>
          <a:xfrm>
            <a:off x="1296894" y="1428662"/>
            <a:ext cx="9478682" cy="5576976"/>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Students often struggle to manage their monthly allowance while balancing daily expenses and savings.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Traditional expense trackers record spending but do not provide adaptive spending limits or personalized budgeting guidance.</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Unnecessary expenses and poor financial planning can lead to insufficient funds for essential needs and unexpected situations.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Students lack a simple way to evaluate future purchases, adjust budgets, and manage multiple savings goals together.</a:t>
            </a:r>
          </a:p>
          <a:p>
            <a:pPr marL="342900" lvl="0" indent="-342900" algn="just">
              <a:lnSpc>
                <a:spcPct val="150000"/>
              </a:lnSpc>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addresses these challenges by providing adaptive budgeting, spending analysis, financial risk simulation, and goal-based savings optimization using Object-Oriented C++.</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4506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C7C17-2E84-D87A-8E02-36BE6D27AA8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EB6F22B-C342-1722-3CF3-3345E1704F16}"/>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94CCA983-87B9-333F-8BEB-1867D6423684}"/>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E0E434D2-C78F-B879-8432-9F8D93EB703A}"/>
              </a:ext>
            </a:extLst>
          </p:cNvPr>
          <p:cNvSpPr txBox="1"/>
          <p:nvPr/>
        </p:nvSpPr>
        <p:spPr>
          <a:xfrm>
            <a:off x="5225420" y="476020"/>
            <a:ext cx="1853646"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Objective</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187DBF8-AC2D-B744-2DD3-86F152F85DBB}"/>
              </a:ext>
            </a:extLst>
          </p:cNvPr>
          <p:cNvSpPr txBox="1"/>
          <p:nvPr/>
        </p:nvSpPr>
        <p:spPr>
          <a:xfrm>
            <a:off x="1610125" y="1498601"/>
            <a:ext cx="9084236"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develop an adaptive budgeting system that helps students manage their monthly allowance effectively.</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spending patterns and identify unnecessary expenses and potential savings opportunities.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evaluate proposed purchases and simulate unexpected expenses to support better financial decisions.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track multiple savings goals and optimize savings contributions based on available funds.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implement a modular and efficient student expense management system using Object-Oriented C++.</a:t>
            </a: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7303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92539-2A98-CD14-C3CD-3DEFFF6BCD5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9B82474-DAB5-4A07-43CC-BBD91E46C49C}"/>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A016F4C9-4479-A8E0-37F2-997A65E13CF6}"/>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30F6BFCB-6EB2-CBDF-9B41-F9AFD29BA009}"/>
              </a:ext>
            </a:extLst>
          </p:cNvPr>
          <p:cNvSpPr txBox="1"/>
          <p:nvPr/>
        </p:nvSpPr>
        <p:spPr>
          <a:xfrm>
            <a:off x="4485482" y="559691"/>
            <a:ext cx="3190169"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Proposed System</a:t>
            </a:r>
          </a:p>
        </p:txBody>
      </p:sp>
      <p:sp>
        <p:nvSpPr>
          <p:cNvPr id="6" name="TextBox 5">
            <a:extLst>
              <a:ext uri="{FF2B5EF4-FFF2-40B4-BE49-F238E27FC236}">
                <a16:creationId xmlns:a16="http://schemas.microsoft.com/office/drawing/2014/main" id="{B80AE43C-20A5-590E-80F4-3D7A256674BE}"/>
              </a:ext>
            </a:extLst>
          </p:cNvPr>
          <p:cNvSpPr txBox="1"/>
          <p:nvPr/>
        </p:nvSpPr>
        <p:spPr>
          <a:xfrm>
            <a:off x="1052944" y="1536412"/>
            <a:ext cx="10094259"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is an Object-Oriented C++ system that helps students manage allowances, track expenses, and plan savings through four integrated modules.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7-day and 30-day spending patterns to calculate adaptive safe-spending limits and distribute available funds effectively.</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identifies spending leakage, compares weekly expenses, and prioritizes essential needs over discretionary spending.</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simulates proposed purchases and unexpected expenses to evaluate affordability and suggest budget adjustments.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Unlike traditional expense trackers, </a:t>
            </a:r>
            <a:r>
              <a:rPr lang="en-IN" sz="2000"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combines adaptive budgeting, financial risk simulation, and goal-based savings optimization to support proactive financial planning.</a:t>
            </a:r>
          </a:p>
          <a:p>
            <a:pPr marL="34290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781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642A2-1601-90AC-D8BB-5D39A4DB8B5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EFB09D7-EB60-5665-6148-DE70073075D2}"/>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6AEB82DE-CE03-2DC7-E584-997439859B84}"/>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61874360-4AB9-5214-7939-FC34171708D7}"/>
              </a:ext>
            </a:extLst>
          </p:cNvPr>
          <p:cNvSpPr txBox="1"/>
          <p:nvPr/>
        </p:nvSpPr>
        <p:spPr>
          <a:xfrm>
            <a:off x="3406588" y="267304"/>
            <a:ext cx="5378824"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System Architecture Diagram</a:t>
            </a:r>
            <a:endParaRPr lang="en-IN" sz="3200" b="1" dirty="0">
              <a:latin typeface="Times New Roman" panose="02020603050405020304" pitchFamily="18" charset="0"/>
              <a:cs typeface="Times New Roman" panose="02020603050405020304" pitchFamily="18" charset="0"/>
            </a:endParaRPr>
          </a:p>
        </p:txBody>
      </p:sp>
      <p:pic>
        <p:nvPicPr>
          <p:cNvPr id="7" name="Picture 6" descr="The image illustrates a layered architecture for BudgetBuddy, featuring a user interface, application services, expense intelligence modules, and a data layer, all aimed at managing personal finances and budgeting.&#10;&#10;AI-generated content may be incorrect.">
            <a:extLst>
              <a:ext uri="{FF2B5EF4-FFF2-40B4-BE49-F238E27FC236}">
                <a16:creationId xmlns:a16="http://schemas.microsoft.com/office/drawing/2014/main" id="{56853DAE-DB83-898B-D772-32AB6CF51F28}"/>
              </a:ext>
            </a:extLst>
          </p:cNvPr>
          <p:cNvPicPr>
            <a:picLocks noChangeAspect="1"/>
          </p:cNvPicPr>
          <p:nvPr/>
        </p:nvPicPr>
        <p:blipFill>
          <a:blip r:embed="rId4"/>
          <a:stretch>
            <a:fillRect/>
          </a:stretch>
        </p:blipFill>
        <p:spPr>
          <a:xfrm>
            <a:off x="1610125" y="1033930"/>
            <a:ext cx="8922870" cy="5449908"/>
          </a:xfrm>
          <a:prstGeom prst="rect">
            <a:avLst/>
          </a:prstGeom>
        </p:spPr>
      </p:pic>
    </p:spTree>
    <p:extLst>
      <p:ext uri="{BB962C8B-B14F-4D97-AF65-F5344CB8AC3E}">
        <p14:creationId xmlns:p14="http://schemas.microsoft.com/office/powerpoint/2010/main" val="3374416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54946-491C-735B-17A6-9767640BE8D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4DE6C15-D8A5-A857-7A8C-1E8EB166D985}"/>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4D2A087F-8FA7-E172-FA5A-7CEBC7EBD952}"/>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B6E44BDA-C11E-9F33-7DCD-85788AD01738}"/>
              </a:ext>
            </a:extLst>
          </p:cNvPr>
          <p:cNvSpPr txBox="1"/>
          <p:nvPr/>
        </p:nvSpPr>
        <p:spPr>
          <a:xfrm>
            <a:off x="1719824" y="351018"/>
            <a:ext cx="8721485" cy="1569660"/>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Module 1: Adaptive Allowance &amp; Expense Intelligence</a:t>
            </a:r>
          </a:p>
          <a:p>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EC1DB64-36A1-A192-57A5-034B040D9F13}"/>
              </a:ext>
            </a:extLst>
          </p:cNvPr>
          <p:cNvSpPr txBox="1"/>
          <p:nvPr/>
        </p:nvSpPr>
        <p:spPr>
          <a:xfrm>
            <a:off x="1831256" y="2082043"/>
            <a:ext cx="8346674" cy="4191981"/>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students' daily expenses and monthly allowance.</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Calculates </a:t>
            </a:r>
            <a:r>
              <a:rPr lang="en-IN" sz="2000" b="1" dirty="0">
                <a:latin typeface="Times New Roman" panose="02020603050405020304" pitchFamily="18" charset="0"/>
                <a:cs typeface="Times New Roman" panose="02020603050405020304" pitchFamily="18" charset="0"/>
              </a:rPr>
              <a:t>7-day and 30-day average spending</a:t>
            </a:r>
            <a:r>
              <a:rPr lang="en-IN" sz="2000" dirty="0">
                <a:latin typeface="Times New Roman" panose="02020603050405020304" pitchFamily="18" charset="0"/>
                <a:cs typeface="Times New Roman" panose="02020603050405020304" pitchFamily="18" charset="0"/>
              </a:rPr>
              <a:t> to identify spending patterns.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Determines a </a:t>
            </a:r>
            <a:r>
              <a:rPr lang="en-IN" sz="2000" b="1" dirty="0">
                <a:latin typeface="Times New Roman" panose="02020603050405020304" pitchFamily="18" charset="0"/>
                <a:cs typeface="Times New Roman" panose="02020603050405020304" pitchFamily="18" charset="0"/>
              </a:rPr>
              <a:t>dynamic safe-spending limit</a:t>
            </a:r>
            <a:r>
              <a:rPr lang="en-IN" sz="2000" dirty="0">
                <a:latin typeface="Times New Roman" panose="02020603050405020304" pitchFamily="18" charset="0"/>
                <a:cs typeface="Times New Roman" panose="02020603050405020304" pitchFamily="18" charset="0"/>
              </a:rPr>
              <a:t> based on the remaining allowance and days left in the month.</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Allocates the available budget across different expense categories.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Automatically adjusts spending recommendations when unexpected expenses occur.</a:t>
            </a:r>
          </a:p>
          <a:p>
            <a:pPr marL="34290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307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38B1-30BD-0706-DE0B-A7754C948DC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A4FB976-1E6E-4C8C-FEA6-37EA23CE5C51}"/>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3464FEFF-3937-9B19-BA13-FA5F50EA9AA6}"/>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image illustrates a flowchart for budget planning, starting with entering monthly allowance and daily expenses, analyzing spending history, calculating safe spending limits, allocating funds to categories, and adjusting the budget for unexpected expenses, ending with displaying updated budget recommendations.&#10;&#10;AI-generated content may be incorrect.">
            <a:extLst>
              <a:ext uri="{FF2B5EF4-FFF2-40B4-BE49-F238E27FC236}">
                <a16:creationId xmlns:a16="http://schemas.microsoft.com/office/drawing/2014/main" id="{D0DDC134-1235-F28A-563C-49A9406DB892}"/>
              </a:ext>
            </a:extLst>
          </p:cNvPr>
          <p:cNvPicPr>
            <a:picLocks noChangeAspect="1"/>
          </p:cNvPicPr>
          <p:nvPr/>
        </p:nvPicPr>
        <p:blipFill>
          <a:blip r:embed="rId4"/>
          <a:stretch>
            <a:fillRect/>
          </a:stretch>
        </p:blipFill>
        <p:spPr>
          <a:xfrm>
            <a:off x="3400405" y="424330"/>
            <a:ext cx="5391189" cy="6018306"/>
          </a:xfrm>
          <a:prstGeom prst="rect">
            <a:avLst/>
          </a:prstGeom>
        </p:spPr>
      </p:pic>
    </p:spTree>
    <p:extLst>
      <p:ext uri="{BB962C8B-B14F-4D97-AF65-F5344CB8AC3E}">
        <p14:creationId xmlns:p14="http://schemas.microsoft.com/office/powerpoint/2010/main" val="4169203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F32BD-A476-FB7B-3A76-0DE8541785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13FF968-2421-76B8-E6B8-79B1B6DAF80D}"/>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5DBC95C5-1104-AC3D-9B34-ED232082CC36}"/>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AAE1E171-3AD6-A811-68A8-C9646219BF87}"/>
              </a:ext>
            </a:extLst>
          </p:cNvPr>
          <p:cNvSpPr txBox="1"/>
          <p:nvPr/>
        </p:nvSpPr>
        <p:spPr>
          <a:xfrm>
            <a:off x="2158105" y="205558"/>
            <a:ext cx="7844922" cy="1569660"/>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Module 2: Smart Spending Leakage &amp; Expense Prioritization</a:t>
            </a:r>
          </a:p>
          <a:p>
            <a:endParaRPr lang="en-IN" sz="32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18FE98A-F891-916F-C99B-14D3495173D7}"/>
              </a:ext>
            </a:extLst>
          </p:cNvPr>
          <p:cNvSpPr txBox="1"/>
          <p:nvPr/>
        </p:nvSpPr>
        <p:spPr>
          <a:xfrm>
            <a:off x="1371600" y="1678261"/>
            <a:ext cx="9317318"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Category-Wise Spending Analysis: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expenses across categories such as food, transport, shopping, and entertainment.</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Weekly Expense Comparison:</a:t>
            </a:r>
            <a:r>
              <a:rPr lang="en-IN" sz="2000" dirty="0">
                <a:latin typeface="Times New Roman" panose="02020603050405020304" pitchFamily="18" charset="0"/>
                <a:cs typeface="Times New Roman" panose="02020603050405020304" pitchFamily="18" charset="0"/>
              </a:rPr>
              <a:t> Compares current and previous weeks' spending to identify changes in spending habits.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Needs vs. Wants Classification:</a:t>
            </a:r>
            <a:r>
              <a:rPr lang="en-IN" sz="2000" dirty="0">
                <a:latin typeface="Times New Roman" panose="02020603050405020304" pitchFamily="18" charset="0"/>
                <a:cs typeface="Times New Roman" panose="02020603050405020304" pitchFamily="18" charset="0"/>
              </a:rPr>
              <a:t> Categorizes expenses into essential needs and discretionary wants.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Spending Leakage Detection:</a:t>
            </a:r>
            <a:r>
              <a:rPr lang="en-IN" sz="2000" dirty="0">
                <a:latin typeface="Times New Roman" panose="02020603050405020304" pitchFamily="18" charset="0"/>
                <a:cs typeface="Times New Roman" panose="02020603050405020304" pitchFamily="18" charset="0"/>
              </a:rPr>
              <a:t> Identifies frequent, unnecessary, or excessive spending that may reduce savings.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Personalized Savings Insights:</a:t>
            </a:r>
            <a:r>
              <a:rPr lang="en-IN" sz="2000" dirty="0">
                <a:latin typeface="Times New Roman" panose="02020603050405020304" pitchFamily="18" charset="0"/>
                <a:cs typeface="Times New Roman" panose="02020603050405020304" pitchFamily="18" charset="0"/>
              </a:rPr>
              <a:t> Suggests expense priorities and opportunities to reduce avoidable spending.</a:t>
            </a:r>
          </a:p>
          <a:p>
            <a:pPr marL="285750" indent="-28575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3363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55B05-31C1-76A0-28C8-3261D0FE565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9659C2E-F0D6-63E0-8C80-A90B089391BE}"/>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BBBCCC90-6588-3946-2ED3-FFAED9EEF7C7}"/>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diagram illustrates a step-by-step process for analyzing and categorizing personal expenses to identify spending patterns, distinguish between needs and wants, detect leaks, and generate savings recommendations.&#10;&#10;AI-generated content may be incorrect.">
            <a:extLst>
              <a:ext uri="{FF2B5EF4-FFF2-40B4-BE49-F238E27FC236}">
                <a16:creationId xmlns:a16="http://schemas.microsoft.com/office/drawing/2014/main" id="{A83BAEE8-6E0F-2314-A943-83C5681EA01C}"/>
              </a:ext>
            </a:extLst>
          </p:cNvPr>
          <p:cNvPicPr>
            <a:picLocks noChangeAspect="1"/>
          </p:cNvPicPr>
          <p:nvPr/>
        </p:nvPicPr>
        <p:blipFill>
          <a:blip r:embed="rId4"/>
          <a:stretch>
            <a:fillRect/>
          </a:stretch>
        </p:blipFill>
        <p:spPr>
          <a:xfrm>
            <a:off x="3667107" y="280893"/>
            <a:ext cx="4857786" cy="6341035"/>
          </a:xfrm>
          <a:prstGeom prst="rect">
            <a:avLst/>
          </a:prstGeom>
        </p:spPr>
      </p:pic>
    </p:spTree>
    <p:extLst>
      <p:ext uri="{BB962C8B-B14F-4D97-AF65-F5344CB8AC3E}">
        <p14:creationId xmlns:p14="http://schemas.microsoft.com/office/powerpoint/2010/main" val="2693122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2EE4A-5828-3900-F3A9-0C52B7B0B51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B2A4612-58B8-31CD-E342-B0C28CEBC974}"/>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B4BE2E2F-B523-87DB-596D-03F97B61506C}"/>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0488508A-D2A9-FB5B-568A-38F7114D6C8F}"/>
              </a:ext>
            </a:extLst>
          </p:cNvPr>
          <p:cNvSpPr txBox="1"/>
          <p:nvPr/>
        </p:nvSpPr>
        <p:spPr>
          <a:xfrm>
            <a:off x="2280141" y="289596"/>
            <a:ext cx="7844922" cy="1569660"/>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Module 3: Budget Rescue &amp; Financial Risk Simulation</a:t>
            </a:r>
          </a:p>
          <a:p>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EC15ABB-3B6E-BAF7-9382-E1270B2D5983}"/>
              </a:ext>
            </a:extLst>
          </p:cNvPr>
          <p:cNvSpPr txBox="1"/>
          <p:nvPr/>
        </p:nvSpPr>
        <p:spPr>
          <a:xfrm>
            <a:off x="1610125" y="1644103"/>
            <a:ext cx="9087756" cy="5115311"/>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Purchase Affordability Analysis:</a:t>
            </a:r>
            <a:r>
              <a:rPr lang="en-IN" sz="2000" dirty="0">
                <a:latin typeface="Times New Roman" panose="02020603050405020304" pitchFamily="18" charset="0"/>
                <a:cs typeface="Times New Roman" panose="02020603050405020304" pitchFamily="18" charset="0"/>
              </a:rPr>
              <a:t> Evaluates whether a proposed purchase fits within the student's available budget.</a:t>
            </a:r>
          </a:p>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Financial Risk Simulation:</a:t>
            </a:r>
            <a:r>
              <a:rPr lang="en-IN" sz="2000" dirty="0">
                <a:latin typeface="Times New Roman" panose="02020603050405020304" pitchFamily="18" charset="0"/>
                <a:cs typeface="Times New Roman" panose="02020603050405020304" pitchFamily="18" charset="0"/>
              </a:rPr>
              <a:t> Predicts the impact of planned purchases and unexpected expenses on the remaining allowance.</a:t>
            </a:r>
          </a:p>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Emergency Budget Adjustment:</a:t>
            </a:r>
            <a:r>
              <a:rPr lang="en-IN" sz="2000" dirty="0">
                <a:latin typeface="Times New Roman" panose="02020603050405020304" pitchFamily="18" charset="0"/>
                <a:cs typeface="Times New Roman" panose="02020603050405020304" pitchFamily="18" charset="0"/>
              </a:rPr>
              <a:t> Reallocates available funds and reduces non-essential spending during financial emergencies.</a:t>
            </a:r>
          </a:p>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Budget Recovery Planning:</a:t>
            </a:r>
            <a:r>
              <a:rPr lang="en-IN" sz="2000" dirty="0">
                <a:latin typeface="Times New Roman" panose="02020603050405020304" pitchFamily="18" charset="0"/>
                <a:cs typeface="Times New Roman" panose="02020603050405020304" pitchFamily="18" charset="0"/>
              </a:rPr>
              <a:t> Estimates the time required to recover from overspending through adjusted daily spending limits.</a:t>
            </a:r>
          </a:p>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Smart Financial Recommendations:</a:t>
            </a:r>
            <a:r>
              <a:rPr lang="en-IN" sz="2000" dirty="0">
                <a:latin typeface="Times New Roman" panose="02020603050405020304" pitchFamily="18" charset="0"/>
                <a:cs typeface="Times New Roman" panose="02020603050405020304" pitchFamily="18" charset="0"/>
              </a:rPr>
              <a:t> Provides suggestions to minimize financial risks and maintain budget stability.</a:t>
            </a:r>
          </a:p>
          <a:p>
            <a:pPr marL="34290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3888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F9DA4-97EE-D44F-3BC4-E32BDFC70A4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751A993-2D51-39ED-FE25-2F0FDE453430}"/>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95C8A45C-D75A-3805-E5AE-46EBFC62BCF1}"/>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diagram illustrates a flowchart for managing personal finances, starting with retrieving current budget and expenses, then simulating the impact of new purchases or unexpected expenses, and finally deciding whether to maintain the budget, activate a budget rescue plan, or generate financial risk recommendations.&#10;&#10;AI-generated content may be incorrect.">
            <a:extLst>
              <a:ext uri="{FF2B5EF4-FFF2-40B4-BE49-F238E27FC236}">
                <a16:creationId xmlns:a16="http://schemas.microsoft.com/office/drawing/2014/main" id="{EFCAA356-0249-B6D7-2CD6-86D2D2A72A8D}"/>
              </a:ext>
            </a:extLst>
          </p:cNvPr>
          <p:cNvPicPr>
            <a:picLocks noChangeAspect="1"/>
          </p:cNvPicPr>
          <p:nvPr/>
        </p:nvPicPr>
        <p:blipFill>
          <a:blip r:embed="rId4"/>
          <a:stretch>
            <a:fillRect/>
          </a:stretch>
        </p:blipFill>
        <p:spPr>
          <a:xfrm>
            <a:off x="3348017" y="542904"/>
            <a:ext cx="5495965" cy="5772192"/>
          </a:xfrm>
          <a:prstGeom prst="rect">
            <a:avLst/>
          </a:prstGeom>
        </p:spPr>
      </p:pic>
    </p:spTree>
    <p:extLst>
      <p:ext uri="{BB962C8B-B14F-4D97-AF65-F5344CB8AC3E}">
        <p14:creationId xmlns:p14="http://schemas.microsoft.com/office/powerpoint/2010/main" val="1453084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8FD1C-418F-FB43-F616-13742DD2CA0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ED0A0BE-31E9-1749-24F4-B3ADE5CDE522}"/>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29B5E2BE-9903-F54C-1872-3BCA19E26982}"/>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6" name="TextBox 5">
            <a:extLst>
              <a:ext uri="{FF2B5EF4-FFF2-40B4-BE49-F238E27FC236}">
                <a16:creationId xmlns:a16="http://schemas.microsoft.com/office/drawing/2014/main" id="{8B92003F-B01E-FA2E-F50E-726CC0A849AD}"/>
              </a:ext>
            </a:extLst>
          </p:cNvPr>
          <p:cNvSpPr txBox="1"/>
          <p:nvPr/>
        </p:nvSpPr>
        <p:spPr>
          <a:xfrm>
            <a:off x="1052944" y="1648180"/>
            <a:ext cx="9855200"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Multiple Savings Goals:</a:t>
            </a:r>
            <a:r>
              <a:rPr lang="en-IN" sz="2000" dirty="0">
                <a:latin typeface="Times New Roman" panose="02020603050405020304" pitchFamily="18" charset="0"/>
                <a:cs typeface="Times New Roman" panose="02020603050405020304" pitchFamily="18" charset="0"/>
              </a:rPr>
              <a:t> Allows students to create and manage savings goals with target amounts and deadlines.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Savings Progress Tracking:</a:t>
            </a:r>
            <a:r>
              <a:rPr lang="en-IN" sz="2000" dirty="0">
                <a:latin typeface="Times New Roman" panose="02020603050405020304" pitchFamily="18" charset="0"/>
                <a:cs typeface="Times New Roman" panose="02020603050405020304" pitchFamily="18" charset="0"/>
              </a:rPr>
              <a:t> Records contributions and monitors the progress of individual savings goals.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Smart Savings Allocation:</a:t>
            </a:r>
            <a:r>
              <a:rPr lang="en-IN" sz="2000" dirty="0">
                <a:latin typeface="Times New Roman" panose="02020603050405020304" pitchFamily="18" charset="0"/>
                <a:cs typeface="Times New Roman" panose="02020603050405020304" pitchFamily="18" charset="0"/>
              </a:rPr>
              <a:t> Distributes available savings among different goals based on their priorities and deadlines.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Savings Timeline Adjustment:</a:t>
            </a:r>
            <a:r>
              <a:rPr lang="en-IN" sz="2000" dirty="0">
                <a:latin typeface="Times New Roman" panose="02020603050405020304" pitchFamily="18" charset="0"/>
                <a:cs typeface="Times New Roman" panose="02020603050405020304" pitchFamily="18" charset="0"/>
              </a:rPr>
              <a:t> Recalculates estimated completion dates based on contributions and available budgets.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Personalized Savings Recommendations:</a:t>
            </a:r>
            <a:r>
              <a:rPr lang="en-IN" sz="2000" dirty="0">
                <a:latin typeface="Times New Roman" panose="02020603050405020304" pitchFamily="18" charset="0"/>
                <a:cs typeface="Times New Roman" panose="02020603050405020304" pitchFamily="18" charset="0"/>
              </a:rPr>
              <a:t> Suggests affordable contribution amounts to help students achieve their goals without affecting essential expenses.</a:t>
            </a:r>
          </a:p>
          <a:p>
            <a:pPr marL="34290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345E05A-95B2-284E-9B67-E8737268EA7B}"/>
              </a:ext>
            </a:extLst>
          </p:cNvPr>
          <p:cNvSpPr txBox="1"/>
          <p:nvPr/>
        </p:nvSpPr>
        <p:spPr>
          <a:xfrm>
            <a:off x="2132077" y="570962"/>
            <a:ext cx="8122024" cy="1077218"/>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Module 4: Goal-Based Savings Optimization</a:t>
            </a:r>
          </a:p>
          <a:p>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78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062E6-04BA-A45B-5378-96771E5951A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AFB9360-0C92-386A-D86A-56B8069AE70F}"/>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688714AD-36EE-D4F9-363B-2C958422FA80}"/>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diagram illustrates a step-by-step process for setting and managing savings goals, including assessing budget, prioritizing goals, adjusting contributions, and tracking progress.&#10;&#10;AI-generated content may be incorrect.">
            <a:extLst>
              <a:ext uri="{FF2B5EF4-FFF2-40B4-BE49-F238E27FC236}">
                <a16:creationId xmlns:a16="http://schemas.microsoft.com/office/drawing/2014/main" id="{BA171BD5-1636-7815-9C66-7054E5EDAE9F}"/>
              </a:ext>
            </a:extLst>
          </p:cNvPr>
          <p:cNvPicPr>
            <a:picLocks noChangeAspect="1"/>
          </p:cNvPicPr>
          <p:nvPr/>
        </p:nvPicPr>
        <p:blipFill>
          <a:blip r:embed="rId4"/>
          <a:stretch>
            <a:fillRect/>
          </a:stretch>
        </p:blipFill>
        <p:spPr>
          <a:xfrm>
            <a:off x="3667107" y="406400"/>
            <a:ext cx="4857786" cy="6078071"/>
          </a:xfrm>
          <a:prstGeom prst="rect">
            <a:avLst/>
          </a:prstGeom>
        </p:spPr>
      </p:pic>
    </p:spTree>
    <p:extLst>
      <p:ext uri="{BB962C8B-B14F-4D97-AF65-F5344CB8AC3E}">
        <p14:creationId xmlns:p14="http://schemas.microsoft.com/office/powerpoint/2010/main" val="161691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FC161-5F39-942D-4DB6-3762124886D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825B9FF-74E0-F43D-85FD-0C60C8B8894B}"/>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A8297B17-EC9F-C736-5C40-480E3ED95739}"/>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image is a user interface of BudgetBuddy's dashboard, showcasing an allowance management tool with a forecast of remaining funds, daily spend average, and a survival estimate based on recent spending habits.&#10;&#10;AI-generated content may be incorrect.">
            <a:extLst>
              <a:ext uri="{FF2B5EF4-FFF2-40B4-BE49-F238E27FC236}">
                <a16:creationId xmlns:a16="http://schemas.microsoft.com/office/drawing/2014/main" id="{8BE10EA6-52AA-5467-536A-23639862C564}"/>
              </a:ext>
            </a:extLst>
          </p:cNvPr>
          <p:cNvPicPr>
            <a:picLocks noChangeAspect="1"/>
          </p:cNvPicPr>
          <p:nvPr/>
        </p:nvPicPr>
        <p:blipFill>
          <a:blip r:embed="rId4"/>
          <a:stretch>
            <a:fillRect/>
          </a:stretch>
        </p:blipFill>
        <p:spPr>
          <a:xfrm>
            <a:off x="1562067" y="1236460"/>
            <a:ext cx="9067866" cy="4086255"/>
          </a:xfrm>
          <a:prstGeom prst="rect">
            <a:avLst/>
          </a:prstGeom>
        </p:spPr>
      </p:pic>
      <p:sp>
        <p:nvSpPr>
          <p:cNvPr id="9" name="TextBox 8">
            <a:extLst>
              <a:ext uri="{FF2B5EF4-FFF2-40B4-BE49-F238E27FC236}">
                <a16:creationId xmlns:a16="http://schemas.microsoft.com/office/drawing/2014/main" id="{99C5FF74-ADE6-5D89-C11C-DB154882DA03}"/>
              </a:ext>
            </a:extLst>
          </p:cNvPr>
          <p:cNvSpPr txBox="1"/>
          <p:nvPr/>
        </p:nvSpPr>
        <p:spPr>
          <a:xfrm>
            <a:off x="495764" y="5705980"/>
            <a:ext cx="11290300" cy="923330"/>
          </a:xfrm>
          <a:prstGeom prst="rect">
            <a:avLst/>
          </a:prstGeom>
          <a:noFill/>
        </p:spPr>
        <p:txBody>
          <a:bodyPr wrap="square">
            <a:spAutoFit/>
          </a:bodyPr>
          <a:lstStyle/>
          <a:p>
            <a:pPr algn="just"/>
            <a:r>
              <a:rPr lang="en-IN" sz="1800" b="0" i="0" dirty="0">
                <a:solidFill>
                  <a:schemeClr val="tx1"/>
                </a:solidFill>
                <a:effectLst/>
                <a:latin typeface="Times New Roman" panose="02020603050405020304" pitchFamily="18" charset="0"/>
                <a:cs typeface="Times New Roman" panose="02020603050405020304" pitchFamily="18" charset="0"/>
              </a:rPr>
              <a:t>Helps students manage their monthly allowance by </a:t>
            </a:r>
            <a:r>
              <a:rPr lang="en-IN" sz="1800" b="0" i="0" dirty="0" err="1">
                <a:solidFill>
                  <a:schemeClr val="tx1"/>
                </a:solidFill>
                <a:effectLst/>
                <a:latin typeface="Times New Roman" panose="02020603050405020304" pitchFamily="18" charset="0"/>
                <a:cs typeface="Times New Roman" panose="02020603050405020304" pitchFamily="18" charset="0"/>
              </a:rPr>
              <a:t>analyzing</a:t>
            </a:r>
            <a:r>
              <a:rPr lang="en-IN" sz="1800" b="0" i="0" dirty="0">
                <a:solidFill>
                  <a:schemeClr val="tx1"/>
                </a:solidFill>
                <a:effectLst/>
                <a:latin typeface="Times New Roman" panose="02020603050405020304" pitchFamily="18" charset="0"/>
                <a:cs typeface="Times New Roman" panose="02020603050405020304" pitchFamily="18" charset="0"/>
              </a:rPr>
              <a:t> daily expenses and spending patterns. It calculates the remaining balance, average daily spending, and estimated budget duration. The Allowance Survival Predictor and Smart Allowance Splitter help students plan expenses efficiently and maintain financial stability.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7084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63D4-A25A-767E-7196-B1E6EE9885A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3345894-9A16-267D-63B1-72FFC051637A}"/>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C105CD34-4B01-655F-5420-5A4D8CAEC24A}"/>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image displays a BudgetBuddy dashboard with sections for tracking expenses, categorizing spending, and suggesting cost-saving alternatives.&#10;&#10;AI-generated content may be incorrect.">
            <a:extLst>
              <a:ext uri="{FF2B5EF4-FFF2-40B4-BE49-F238E27FC236}">
                <a16:creationId xmlns:a16="http://schemas.microsoft.com/office/drawing/2014/main" id="{4C3E8AC7-1AB0-E8EC-F57B-E9D9DE3059C5}"/>
              </a:ext>
            </a:extLst>
          </p:cNvPr>
          <p:cNvPicPr>
            <a:picLocks noChangeAspect="1"/>
          </p:cNvPicPr>
          <p:nvPr/>
        </p:nvPicPr>
        <p:blipFill>
          <a:blip r:embed="rId4"/>
          <a:stretch>
            <a:fillRect/>
          </a:stretch>
        </p:blipFill>
        <p:spPr>
          <a:xfrm>
            <a:off x="1556159" y="1236368"/>
            <a:ext cx="9048816" cy="4038630"/>
          </a:xfrm>
          <a:prstGeom prst="rect">
            <a:avLst/>
          </a:prstGeom>
        </p:spPr>
      </p:pic>
      <p:sp>
        <p:nvSpPr>
          <p:cNvPr id="7" name="TextBox 6">
            <a:extLst>
              <a:ext uri="{FF2B5EF4-FFF2-40B4-BE49-F238E27FC236}">
                <a16:creationId xmlns:a16="http://schemas.microsoft.com/office/drawing/2014/main" id="{8CCB0B44-6063-E759-BB19-7BFFC9041D9A}"/>
              </a:ext>
            </a:extLst>
          </p:cNvPr>
          <p:cNvSpPr txBox="1"/>
          <p:nvPr/>
        </p:nvSpPr>
        <p:spPr>
          <a:xfrm>
            <a:off x="376518" y="5705980"/>
            <a:ext cx="11648141" cy="923330"/>
          </a:xfrm>
          <a:prstGeom prst="rect">
            <a:avLst/>
          </a:prstGeom>
          <a:noFill/>
        </p:spPr>
        <p:txBody>
          <a:bodyPr wrap="square">
            <a:spAutoFit/>
          </a:bodyPr>
          <a:lstStyle/>
          <a:p>
            <a:pPr algn="just"/>
            <a:r>
              <a:rPr lang="en-IN" sz="1800" b="0" i="0" dirty="0" err="1">
                <a:solidFill>
                  <a:schemeClr val="tx1"/>
                </a:solidFill>
                <a:effectLst/>
                <a:latin typeface="Times New Roman" panose="02020603050405020304" pitchFamily="18" charset="0"/>
                <a:cs typeface="Times New Roman" panose="02020603050405020304" pitchFamily="18" charset="0"/>
              </a:rPr>
              <a:t>Analyzes</a:t>
            </a:r>
            <a:r>
              <a:rPr lang="en-IN" sz="1800" b="0" i="0" dirty="0">
                <a:solidFill>
                  <a:schemeClr val="tx1"/>
                </a:solidFill>
                <a:effectLst/>
                <a:latin typeface="Times New Roman" panose="02020603050405020304" pitchFamily="18" charset="0"/>
                <a:cs typeface="Times New Roman" panose="02020603050405020304" pitchFamily="18" charset="0"/>
              </a:rPr>
              <a:t> category-wise expenses and identifies unnecessary spending habits. It allows students to record transactions, classify expenses based on priority, and compare spending alternatives. The system highlights potential savings opportunities and encourages students to prioritize essential needs over unnecessary wants.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3162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B5714-12B6-E71D-98F9-525F90C93B3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8A91B55-4282-EEB6-47DA-D8DDF195455A}"/>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7C7F1400-06FF-12E0-F478-78E693B1A5B0}"/>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BudgetBuddy dashboard includes features for managing finances, such as a pause-predict-decide module, an emergency mode simulator, and a what-if tool for assessing affordability.&#10;&#10;AI-generated content may be incorrect.">
            <a:extLst>
              <a:ext uri="{FF2B5EF4-FFF2-40B4-BE49-F238E27FC236}">
                <a16:creationId xmlns:a16="http://schemas.microsoft.com/office/drawing/2014/main" id="{36EFF2D5-2907-38F2-F0CE-0FBA34DD7228}"/>
              </a:ext>
            </a:extLst>
          </p:cNvPr>
          <p:cNvPicPr>
            <a:picLocks noChangeAspect="1"/>
          </p:cNvPicPr>
          <p:nvPr/>
        </p:nvPicPr>
        <p:blipFill>
          <a:blip r:embed="rId4"/>
          <a:stretch>
            <a:fillRect/>
          </a:stretch>
        </p:blipFill>
        <p:spPr>
          <a:xfrm>
            <a:off x="1551396" y="1142910"/>
            <a:ext cx="9058341" cy="3743352"/>
          </a:xfrm>
          <a:prstGeom prst="rect">
            <a:avLst/>
          </a:prstGeom>
        </p:spPr>
      </p:pic>
      <p:sp>
        <p:nvSpPr>
          <p:cNvPr id="7" name="TextBox 6">
            <a:extLst>
              <a:ext uri="{FF2B5EF4-FFF2-40B4-BE49-F238E27FC236}">
                <a16:creationId xmlns:a16="http://schemas.microsoft.com/office/drawing/2014/main" id="{0F03B698-98B0-B596-14DC-A2360535FE62}"/>
              </a:ext>
            </a:extLst>
          </p:cNvPr>
          <p:cNvSpPr txBox="1"/>
          <p:nvPr/>
        </p:nvSpPr>
        <p:spPr>
          <a:xfrm>
            <a:off x="197223" y="5529290"/>
            <a:ext cx="11797553" cy="923330"/>
          </a:xfrm>
          <a:prstGeom prst="rect">
            <a:avLst/>
          </a:prstGeom>
          <a:noFill/>
        </p:spPr>
        <p:txBody>
          <a:bodyPr wrap="square">
            <a:spAutoFit/>
          </a:bodyPr>
          <a:lstStyle/>
          <a:p>
            <a:pPr algn="just"/>
            <a:r>
              <a:rPr lang="en-IN" sz="1800" b="0" i="0" dirty="0">
                <a:solidFill>
                  <a:schemeClr val="tx1"/>
                </a:solidFill>
                <a:effectLst/>
                <a:latin typeface="Times New Roman" panose="02020603050405020304" pitchFamily="18" charset="0"/>
                <a:cs typeface="Times New Roman" panose="02020603050405020304" pitchFamily="18" charset="0"/>
              </a:rPr>
              <a:t>Helps students evaluate financial risks before making purchases. The What-If Simulator estimates the impact of planned expenses on the available budget. Financial Emergency Mode monitors essential expense reserves and provides guidance for adjusting spending decisions to avoid financial difficulties.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9801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32A43-7C4F-F214-B2C9-BE32704DDCF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7ADA1F5-AB9B-5030-9CCB-ECABD4348DE9}"/>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A742C748-4C66-C66E-E7A5-476FAC58F9DD}"/>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BudgetBuddy's dashboard displays various budgeting tools, including goal creation, savings planning, and spending tracking.&#10;&#10;AI-generated content may be incorrect.">
            <a:extLst>
              <a:ext uri="{FF2B5EF4-FFF2-40B4-BE49-F238E27FC236}">
                <a16:creationId xmlns:a16="http://schemas.microsoft.com/office/drawing/2014/main" id="{D3C51BC1-8D43-1B0A-9222-B251F3E0F3D7}"/>
              </a:ext>
            </a:extLst>
          </p:cNvPr>
          <p:cNvPicPr>
            <a:picLocks noChangeAspect="1"/>
          </p:cNvPicPr>
          <p:nvPr/>
        </p:nvPicPr>
        <p:blipFill>
          <a:blip r:embed="rId4"/>
          <a:stretch>
            <a:fillRect/>
          </a:stretch>
        </p:blipFill>
        <p:spPr>
          <a:xfrm>
            <a:off x="1556159" y="1103578"/>
            <a:ext cx="9048816" cy="3981479"/>
          </a:xfrm>
          <a:prstGeom prst="rect">
            <a:avLst/>
          </a:prstGeom>
        </p:spPr>
      </p:pic>
      <p:sp>
        <p:nvSpPr>
          <p:cNvPr id="7" name="TextBox 6">
            <a:extLst>
              <a:ext uri="{FF2B5EF4-FFF2-40B4-BE49-F238E27FC236}">
                <a16:creationId xmlns:a16="http://schemas.microsoft.com/office/drawing/2014/main" id="{A422E589-84F0-8413-C509-D5E627F76EFC}"/>
              </a:ext>
            </a:extLst>
          </p:cNvPr>
          <p:cNvSpPr txBox="1"/>
          <p:nvPr/>
        </p:nvSpPr>
        <p:spPr>
          <a:xfrm>
            <a:off x="256988" y="5498280"/>
            <a:ext cx="11779624" cy="923330"/>
          </a:xfrm>
          <a:prstGeom prst="rect">
            <a:avLst/>
          </a:prstGeom>
          <a:noFill/>
        </p:spPr>
        <p:txBody>
          <a:bodyPr wrap="square">
            <a:spAutoFit/>
          </a:bodyPr>
          <a:lstStyle/>
          <a:p>
            <a:pPr algn="just"/>
            <a:r>
              <a:rPr lang="en-IN" sz="1800" b="0" i="0" dirty="0">
                <a:solidFill>
                  <a:schemeClr val="tx1"/>
                </a:solidFill>
                <a:effectLst/>
                <a:latin typeface="Times New Roman" panose="02020603050405020304" pitchFamily="18" charset="0"/>
                <a:cs typeface="Times New Roman" panose="02020603050405020304" pitchFamily="18" charset="0"/>
              </a:rPr>
              <a:t>Enables students to create and manage multiple savings goals with specific target amounts and deadlines. The Adaptive Savings Guide calculates weekly and monthly contribution targets based on the available budget. It supports savings progress tracking and encourages students to achieve financial goals without compromising essential expenses.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3136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46B1B-B7F1-9BD6-B6AC-1E55B3B7F26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65BFD60-27EE-660C-3A0C-13F3A1BDD588}"/>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49B28820-7B90-A201-F13D-A99BC3B540EF}"/>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84EA51CE-EDE5-2564-4CA9-4559AA86BBF7}"/>
              </a:ext>
            </a:extLst>
          </p:cNvPr>
          <p:cNvSpPr txBox="1"/>
          <p:nvPr/>
        </p:nvSpPr>
        <p:spPr>
          <a:xfrm>
            <a:off x="3471333" y="290067"/>
            <a:ext cx="5640259" cy="1077218"/>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Advantages of </a:t>
            </a:r>
            <a:r>
              <a:rPr lang="en-IN" sz="3200" b="1" dirty="0" err="1">
                <a:latin typeface="Times New Roman" panose="02020603050405020304" pitchFamily="18" charset="0"/>
                <a:cs typeface="Times New Roman" panose="02020603050405020304" pitchFamily="18" charset="0"/>
              </a:rPr>
              <a:t>BudgetBuddy</a:t>
            </a:r>
            <a:endParaRPr lang="en-IN" sz="3200" b="1" dirty="0">
              <a:latin typeface="Times New Roman" panose="02020603050405020304" pitchFamily="18" charset="0"/>
              <a:cs typeface="Times New Roman" panose="02020603050405020304" pitchFamily="18" charset="0"/>
            </a:endParaRPr>
          </a:p>
          <a:p>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5F241D4-4E2E-D096-DD0D-AC15419EFAA2}"/>
              </a:ext>
            </a:extLst>
          </p:cNvPr>
          <p:cNvSpPr txBox="1"/>
          <p:nvPr/>
        </p:nvSpPr>
        <p:spPr>
          <a:xfrm>
            <a:off x="1479176" y="1143565"/>
            <a:ext cx="9233647" cy="5576976"/>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Intelligent Budget Management: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spending patterns and recommends safe daily spending limits based on available allowance.</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Reduced Unnecessary Expenses:</a:t>
            </a:r>
            <a:r>
              <a:rPr lang="en-IN" sz="2000" dirty="0">
                <a:latin typeface="Times New Roman" panose="02020603050405020304" pitchFamily="18" charset="0"/>
                <a:cs typeface="Times New Roman" panose="02020603050405020304" pitchFamily="18" charset="0"/>
              </a:rPr>
              <a:t> Identifies spending leakage and helps students prioritize essential needs over discretionary wants.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Financial Risk Prevention:</a:t>
            </a:r>
            <a:r>
              <a:rPr lang="en-IN" sz="2000" dirty="0">
                <a:latin typeface="Times New Roman" panose="02020603050405020304" pitchFamily="18" charset="0"/>
                <a:cs typeface="Times New Roman" panose="02020603050405020304" pitchFamily="18" charset="0"/>
              </a:rPr>
              <a:t> Simulates the impact of purchases and unexpected expenses to support better financial decisions.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Goal-Based Savings Planning:</a:t>
            </a:r>
            <a:r>
              <a:rPr lang="en-IN" sz="2000" dirty="0">
                <a:latin typeface="Times New Roman" panose="02020603050405020304" pitchFamily="18" charset="0"/>
                <a:cs typeface="Times New Roman" panose="02020603050405020304" pitchFamily="18" charset="0"/>
              </a:rPr>
              <a:t> Helps students manage multiple savings goals, track progress, and adjust contribution timelines.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Adaptive Financial Recommendations:</a:t>
            </a:r>
            <a:r>
              <a:rPr lang="en-IN" sz="2000" dirty="0">
                <a:latin typeface="Times New Roman" panose="02020603050405020304" pitchFamily="18" charset="0"/>
                <a:cs typeface="Times New Roman" panose="02020603050405020304" pitchFamily="18" charset="0"/>
              </a:rPr>
              <a:t> Automatically recalculates budget recommendations when spending patterns or financial conditions change.</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Improved Financial Discipline:</a:t>
            </a:r>
            <a:r>
              <a:rPr lang="en-IN" sz="2000" dirty="0">
                <a:latin typeface="Times New Roman" panose="02020603050405020304" pitchFamily="18" charset="0"/>
                <a:cs typeface="Times New Roman" panose="02020603050405020304" pitchFamily="18" charset="0"/>
              </a:rPr>
              <a:t> Encourages responsible spending, consistent saving, and better money management habits.</a:t>
            </a:r>
          </a:p>
        </p:txBody>
      </p:sp>
    </p:spTree>
    <p:extLst>
      <p:ext uri="{BB962C8B-B14F-4D97-AF65-F5344CB8AC3E}">
        <p14:creationId xmlns:p14="http://schemas.microsoft.com/office/powerpoint/2010/main" val="3231967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E401F-DC5D-18ED-C896-44D46F9E5EC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F292B48-284F-F293-D058-D9EF538FE9CE}"/>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F5AA9D8B-50BF-2070-BECE-7709D9037EAD}"/>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551F8C3E-54F5-0C2B-7181-11B46997A5C8}"/>
              </a:ext>
            </a:extLst>
          </p:cNvPr>
          <p:cNvSpPr txBox="1"/>
          <p:nvPr/>
        </p:nvSpPr>
        <p:spPr>
          <a:xfrm>
            <a:off x="4927319" y="536288"/>
            <a:ext cx="2306495"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D3E45D2E-D535-632B-DB8A-6F9B4077A171}"/>
              </a:ext>
            </a:extLst>
          </p:cNvPr>
          <p:cNvSpPr txBox="1"/>
          <p:nvPr/>
        </p:nvSpPr>
        <p:spPr>
          <a:xfrm>
            <a:off x="1323788" y="1428662"/>
            <a:ext cx="9544424" cy="5115311"/>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is an adaptive student expense and savings optimization system developed using Object-Oriented C++.</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integrates </a:t>
            </a:r>
            <a:r>
              <a:rPr lang="en-IN" sz="2000" b="1" dirty="0">
                <a:latin typeface="Times New Roman" panose="02020603050405020304" pitchFamily="18" charset="0"/>
                <a:cs typeface="Times New Roman" panose="02020603050405020304" pitchFamily="18" charset="0"/>
              </a:rPr>
              <a:t>four modules</a:t>
            </a:r>
            <a:r>
              <a:rPr lang="en-IN" sz="2000" dirty="0">
                <a:latin typeface="Times New Roman" panose="02020603050405020304" pitchFamily="18" charset="0"/>
                <a:cs typeface="Times New Roman" panose="02020603050405020304" pitchFamily="18" charset="0"/>
              </a:rPr>
              <a:t> for allowance management, spending analysis, financial risk simulation, and goal-based savings optimization.</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goes beyond traditional expense tracking by providing </a:t>
            </a:r>
            <a:r>
              <a:rPr lang="en-IN" sz="2000" b="1" dirty="0">
                <a:latin typeface="Times New Roman" panose="02020603050405020304" pitchFamily="18" charset="0"/>
                <a:cs typeface="Times New Roman" panose="02020603050405020304" pitchFamily="18" charset="0"/>
              </a:rPr>
              <a:t>dynamic spending limits, expense prioritization, and personalized budget recommendations</a:t>
            </a:r>
            <a:r>
              <a:rPr lang="en-IN" sz="2000" dirty="0">
                <a:latin typeface="Times New Roman" panose="02020603050405020304" pitchFamily="18" charset="0"/>
                <a:cs typeface="Times New Roman" panose="02020603050405020304" pitchFamily="18" charset="0"/>
              </a:rPr>
              <a:t>.</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helps students make informed financial decisions, manage unexpected expenses, and plan savings effectively.</a:t>
            </a:r>
          </a:p>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Overall Outcome: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aims to improve students' financial awareness, encourage responsible spending habits, and support long-term financial stability.</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7738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24F57-C94D-8A64-8313-810344450DC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9CE47F1-FB26-4C0D-9ACD-116106D37CE3}"/>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4C0346D0-D3EF-DF4D-DD98-AE1FE88E3796}"/>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10" name="Picture 2" descr="Thank you&#10;&#10;AI-generated content may be incorrect.">
            <a:extLst>
              <a:ext uri="{FF2B5EF4-FFF2-40B4-BE49-F238E27FC236}">
                <a16:creationId xmlns:a16="http://schemas.microsoft.com/office/drawing/2014/main" id="{F75D5204-4B78-0A5E-FD15-32416886EB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4732" y="1327659"/>
            <a:ext cx="8931215" cy="4202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8048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315</TotalTime>
  <Words>1124</Words>
  <Application>Microsoft Office PowerPoint</Application>
  <PresentationFormat>Widescreen</PresentationFormat>
  <Paragraphs>74</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Hemalakshmi H</dc:creator>
  <cp:lastModifiedBy>ayesha banu</cp:lastModifiedBy>
  <cp:revision>3</cp:revision>
  <dcterms:created xsi:type="dcterms:W3CDTF">2026-05-23T18:11:44Z</dcterms:created>
  <dcterms:modified xsi:type="dcterms:W3CDTF">2026-10-26T05:25:47Z</dcterms:modified>
</cp:coreProperties>
</file>